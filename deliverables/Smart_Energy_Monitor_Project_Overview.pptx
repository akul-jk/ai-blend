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2b7e71da704648" /><Relationship Type="http://schemas.openxmlformats.org/officeDocument/2006/relationships/extended-properties" Target="/docProps/app.xml" Id="R1888a6b7bb644f88" /><Relationship Type="http://schemas.openxmlformats.org/officeDocument/2006/relationships/officeDocument" Target="/ppt/presentation.xml" Id="R6a0abdf0ad9a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46f035a6840d6"/>
  </p:sldMasterIdLst>
  <p:notesMasterIdLst>
    <p:notesMasterId xmlns:r="http://schemas.openxmlformats.org/officeDocument/2006/relationships" r:id="R82a19f12a2f549d1"/>
  </p:notesMasterIdLst>
  <p:sldIdLst>
    <p:sldId xmlns:r="http://schemas.openxmlformats.org/officeDocument/2006/relationships" id="256" r:id="R5c73e65666884dde"/>
    <p:sldId xmlns:r="http://schemas.openxmlformats.org/officeDocument/2006/relationships" id="257" r:id="Rbdf8988ecb804b4d"/>
    <p:sldId xmlns:r="http://schemas.openxmlformats.org/officeDocument/2006/relationships" id="258" r:id="R112b2aee37784dc3"/>
    <p:sldId xmlns:r="http://schemas.openxmlformats.org/officeDocument/2006/relationships" id="259" r:id="R4e2c6b6e2bc449bf"/>
    <p:sldId xmlns:r="http://schemas.openxmlformats.org/officeDocument/2006/relationships" id="260" r:id="R87de1f86cf454aba"/>
    <p:sldId xmlns:r="http://schemas.openxmlformats.org/officeDocument/2006/relationships" id="261" r:id="Rb3d6d65a19d24275"/>
    <p:sldId xmlns:r="http://schemas.openxmlformats.org/officeDocument/2006/relationships" id="262" r:id="R3a39581687c74119"/>
    <p:sldId xmlns:r="http://schemas.openxmlformats.org/officeDocument/2006/relationships" id="263" r:id="R02ef4ed7186d47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cad2d1c6c0495d" /><Relationship Type="http://schemas.openxmlformats.org/officeDocument/2006/relationships/slideMaster" Target="/ppt/slideMasters/slideMaster1.xml" Id="R01446f035a6840d6" /><Relationship Type="http://schemas.openxmlformats.org/officeDocument/2006/relationships/notesMaster" Target="/ppt/notesMasters/notesMaster1.xml" Id="R82a19f12a2f549d1" /><Relationship Type="http://schemas.openxmlformats.org/officeDocument/2006/relationships/presProps" Target="/ppt/presProps.xml" Id="Re3a93d31318c48df" /><Relationship Type="http://schemas.openxmlformats.org/officeDocument/2006/relationships/tableStyles" Target="/ppt/tableStyles.xml" Id="R7e40684c68134b90" /><Relationship Type="http://schemas.openxmlformats.org/officeDocument/2006/relationships/slide" Target="/ppt/slides/slide1.xml" Id="R5c73e65666884dde" /><Relationship Type="http://schemas.openxmlformats.org/officeDocument/2006/relationships/slide" Target="/ppt/slides/slide2.xml" Id="Rbdf8988ecb804b4d" /><Relationship Type="http://schemas.openxmlformats.org/officeDocument/2006/relationships/slide" Target="/ppt/slides/slide3.xml" Id="R112b2aee37784dc3" /><Relationship Type="http://schemas.openxmlformats.org/officeDocument/2006/relationships/slide" Target="/ppt/slides/slide4.xml" Id="R4e2c6b6e2bc449bf" /><Relationship Type="http://schemas.openxmlformats.org/officeDocument/2006/relationships/slide" Target="/ppt/slides/slide5.xml" Id="R87de1f86cf454aba" /><Relationship Type="http://schemas.openxmlformats.org/officeDocument/2006/relationships/slide" Target="/ppt/slides/slide6.xml" Id="Rb3d6d65a19d24275" /><Relationship Type="http://schemas.openxmlformats.org/officeDocument/2006/relationships/slide" Target="/ppt/slides/slide7.xml" Id="R3a39581687c74119" /><Relationship Type="http://schemas.openxmlformats.org/officeDocument/2006/relationships/slide" Target="/ppt/slides/slide8.xml" Id="R02ef4ed7186d47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3a59d13344d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a83c2d61204db9" /><Relationship Type="http://schemas.openxmlformats.org/officeDocument/2006/relationships/notesMaster" Target="/ppt/notesMasters/notesMaster1.xml" Id="R37937318ab4b49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d7f21f3ca54b92" /><Relationship Type="http://schemas.openxmlformats.org/officeDocument/2006/relationships/notesMaster" Target="/ppt/notesMasters/notesMaster1.xml" Id="R5940b0c072f7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4a95f7d36405b" /><Relationship Type="http://schemas.openxmlformats.org/officeDocument/2006/relationships/notesMaster" Target="/ppt/notesMasters/notesMaster1.xml" Id="Rbb8e524c578649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21ba496bf0474a" /><Relationship Type="http://schemas.openxmlformats.org/officeDocument/2006/relationships/notesMaster" Target="/ppt/notesMasters/notesMaster1.xml" Id="R3c70495485c6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78776f9de04314" /><Relationship Type="http://schemas.openxmlformats.org/officeDocument/2006/relationships/notesMaster" Target="/ppt/notesMasters/notesMaster1.xml" Id="R05d325d35c25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6e8be1739f4899" /><Relationship Type="http://schemas.openxmlformats.org/officeDocument/2006/relationships/notesMaster" Target="/ppt/notesMasters/notesMaster1.xml" Id="Rdbf5c83543f04d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096fba9a484e1a" /><Relationship Type="http://schemas.openxmlformats.org/officeDocument/2006/relationships/notesMaster" Target="/ppt/notesMasters/notesMaster1.xml" Id="R1644c772ca58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5edc4e92cb4c6c" /><Relationship Type="http://schemas.openxmlformats.org/officeDocument/2006/relationships/notesMaster" Target="/ppt/notesMasters/notesMaster1.xml" Id="Re5f6a7fed3a047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 based on the repository README, application routes, recommendation and telemetry services, and saved candidate evaluation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supports simulated readings and an authenticated future hardware ingestion route. Synthetic, replay, and hardware sources are separated in the application. Source: README.md, sections Architecture and telemetry contract and Synthetic dataset replay.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shown is based on backend routes/services and README. Replay uses a separate telemetry:replay event and does not modify SQLite. Model inference is served by the separate ML service. Source: README.md, Architecture and telemetry contract; backend/src/simulation/replay.ts; ml-service/main.py.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logic is deterministic and sourced from valid recorded readings. It withholds unusual-use comparisons until prior-day coverage criteria are met and computes optional savings as observed kWh × user-selected reduction percentage. Source: README.md, Deterministic recommendations and Billing sections; backend/src/services/recommendations.ts; backend/src/services/ksebTariff.ts.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SMS integration is designed for +91 numbers and requires Twilio credentials plus approved India DLT sender/entity/template configuration. No provider secrets or DLT registration values are committed. Only opted-in recipients receive warning/critical hardware alerts. Source: README.md, SMS delivery in India; backend/src/services/smsAlerts.ts; frontend/src/pages/Alerts/PhoneAlertSettings.tsx.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from the saved app-compatible candidate evaluation, candidate version energy_lstm_app_candidate_20261016T100359609448Z_0db4cec2. Both methods are scored on 1,036 test samples from simulated telemetry; candidate MAE is 0.000100629648 kWh and persistence MAE is 0.000089301159 kWh, a -12.6857% MAE improvement (worse). Candidate RMSE and R² are better in this run, but WAPE is worse. These are not hardware accuracy claims. Source: ml-service/models/candidates/energy_lstm_app_candidate_20261016T100359609448Z_0db4cec2/metrics.json and 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model contract includes 19 features, sequence length 60 and configured 5-second cadence; target is next interval energy. Candidate activation is separately gated and rollback is supported. Source: README.md, ML training and predictions; ml-service/MODEL_PACKAGE_CONTRACT.md; ml-service/model_registry.py.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application is simulation-first; physical meter and firmware validation are not complete. The database uses bounded telemetry retention. India SMS requires external provider account and DLT registration. Source: README.md, Verification and limitations; current app source and saved model evaluation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2ab78d35949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c5e2b4e5440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7d8771c5c41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2b4cfff3045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b24a2b6d642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8f5c08af449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EDCBA-07D9-4E31-8157-009910DEF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8623D3-E94C-49CE-AE7A-61A6C599D2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526E9F-3947-4F7A-82B3-F19E3B89C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BBFE14-D150-4702-AD40-AD82CFBC8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65AADF-DAC6-47B2-894D-8C6140318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CA5FFE-851C-4D96-84FD-E38CB4E17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5D613C-FA24-41B2-BCE9-849FABAD51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3A0AE2-6095-4B3E-B369-A696ABA311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2B0B0B-995C-4A56-8629-F9138F26E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1C80C3-3495-4FA2-B93F-F7C058421F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1100f67e946d1" /><Relationship Type="http://schemas.openxmlformats.org/officeDocument/2006/relationships/slideLayout" Target="/ppt/slideLayouts/slideLayout1.xml" Id="Re9f312b302b34e86" /><Relationship Type="http://schemas.openxmlformats.org/officeDocument/2006/relationships/slideLayout" Target="/ppt/slideLayouts/slideLayout2.xml" Id="Rd40592631478461a" /><Relationship Type="http://schemas.openxmlformats.org/officeDocument/2006/relationships/slideLayout" Target="/ppt/slideLayouts/slideLayout3.xml" Id="R21d2f13560d545c5" /><Relationship Type="http://schemas.openxmlformats.org/officeDocument/2006/relationships/slideLayout" Target="/ppt/slideLayouts/slideLayout4.xml" Id="R34fd957bb7c94473" /><Relationship Type="http://schemas.openxmlformats.org/officeDocument/2006/relationships/slideLayout" Target="/ppt/slideLayouts/slideLayout5.xml" Id="R5fffa928208b4f97" /><Relationship Type="http://schemas.openxmlformats.org/officeDocument/2006/relationships/slideLayout" Target="/ppt/slideLayouts/slideLayout6.xml" Id="R2605f530fa8847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312b302b34e86"/>
    <p:sldLayoutId xmlns:r="http://schemas.openxmlformats.org/officeDocument/2006/relationships" id="2147483650" r:id="Rd40592631478461a"/>
    <p:sldLayoutId xmlns:r="http://schemas.openxmlformats.org/officeDocument/2006/relationships" id="2147483651" r:id="R21d2f13560d545c5"/>
    <p:sldLayoutId xmlns:r="http://schemas.openxmlformats.org/officeDocument/2006/relationships" id="2147483652" r:id="R34fd957bb7c94473"/>
    <p:sldLayoutId xmlns:r="http://schemas.openxmlformats.org/officeDocument/2006/relationships" id="2147483653" r:id="R5fffa928208b4f97"/>
    <p:sldLayoutId xmlns:r="http://schemas.openxmlformats.org/officeDocument/2006/relationships" id="2147483654" r:id="R2605f530fa8847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26173e1eb4ba0" /><Relationship Type="http://schemas.openxmlformats.org/officeDocument/2006/relationships/notesSlide" Target="/ppt/notesSlides/notesSlide1.xml" Id="R080445437c9c44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25b8a667642b2" /><Relationship Type="http://schemas.openxmlformats.org/officeDocument/2006/relationships/notesSlide" Target="/ppt/notesSlides/notesSlide2.xml" Id="R434b6bc28fe9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c186a68124061" /><Relationship Type="http://schemas.openxmlformats.org/officeDocument/2006/relationships/notesSlide" Target="/ppt/notesSlides/notesSlide3.xml" Id="R9974451f955a4c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c23796b594d06" /><Relationship Type="http://schemas.openxmlformats.org/officeDocument/2006/relationships/notesSlide" Target="/ppt/notesSlides/notesSlide4.xml" Id="Re5d1a196ff7346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f1c1af6ba4395" /><Relationship Type="http://schemas.openxmlformats.org/officeDocument/2006/relationships/notesSlide" Target="/ppt/notesSlides/notesSlide5.xml" Id="R1eb9a6227e8a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ce1684b1f4da8" /><Relationship Type="http://schemas.openxmlformats.org/officeDocument/2006/relationships/notesSlide" Target="/ppt/notesSlides/notesSlide6.xml" Id="Rc6b1392aed7e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c2ceef24e4d5c" /><Relationship Type="http://schemas.openxmlformats.org/officeDocument/2006/relationships/notesSlide" Target="/ppt/notesSlides/notesSlide7.xml" Id="R34360477eee549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dcde036f2473e" /><Relationship Type="http://schemas.openxmlformats.org/officeDocument/2006/relationships/notesSlide" Target="/ppt/notesSlides/notesSlide8.xml" Id="R8e9b0782e1144f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DD5DD-95D9-4967-9357-FF34D48F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4517B-094A-4778-A56F-06BFD443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5715000" cy="571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8D8E8-25C4-4CDB-9786-591C611D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381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02257-C593-4A5C-B8BD-BC42E72A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1D5BB-6752-4844-9BF3-42D7ABBF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9D968-1378-4DFD-BE96-D3E7ACBD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SMART ENERGY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FE6C8-09EA-46D6-A0B3-EE4EB21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29A34-68D9-474F-AFEC-7C300801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38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A connected system for tracking household energy,</a:t>
            </a:r>
          </a:p>
          <a:p xmlns:a="http://schemas.openxmlformats.org/drawingml/2006/main">
            <a: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turning meter readings into useful actions, and</a:t>
            </a:r>
          </a:p>
          <a:p xmlns:a="http://schemas.openxmlformats.org/drawingml/2006/main">
            <a:pPr algn="l">
              <a:defRPr sz="18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evaluating forecasts responsibly.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B8E84-C896-4F80-8FAC-9179769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E2B2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C97BB-BB10-465A-B846-05A6AC7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Monitoring · insights · alerts · model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39787-55CA-4069-9BA2-AA95C577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0008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797AB-5537-427A-811A-F5B62747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192EA-1958-4BFE-B526-E6B11160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From meter reading to household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42B3D-2626-4560-BBD2-1542B683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The app connects consumption data to decisions a user can understand.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9385F-04BA-466B-AA8D-64AC8A8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4E03F-6EDE-44E5-98C2-F118822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FB10D-E729-430F-9842-C19572E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ABB91-B279-41A1-B186-2436B54B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02CD6-062B-464E-9523-1EFFA04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D09A2-95C4-4429-B50B-A621D2DA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D510B-A2EA-4CB6-B2BA-7C4A0B2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Collect live or simulated electrical readings and keep their source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DFB7E-CEE0-4807-86BD-665B220C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AE2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3F75F-DB37-499B-A2F0-A0BA6EC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E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14A36-24E2-4129-BB2E-D45B767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5FD00-9B5A-4E33-9F8A-9E50A169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Summarize appliance use, compare against a suitable baseline, and show tariff assumptions.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58A18-A85F-45AD-AB71-6475E341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2F219-DE3D-4345-8E83-E8C154A2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FC104-AD6D-443A-8FFE-91C6047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F4EC4-AC39-46C8-902B-6AEF8AA4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Raise in-app alerts and send eligible hardware alerts to opted-in phone numbers.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4326A-1F81-4E7B-BBEC-DD581D49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FEC7C-8452-4E1E-AD6C-8E09F184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Core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70638-2283-40B4-8B40-37D1E541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Show what the data supports—and make gaps in history, model readiness, and hardware validation visible.</a:t>
            </a:r>
          </a:p>
        </p:txBody>
      </p:sp>
    </p:spTree>
    <p:extLst>
      <p:ext uri="{BB962C8B-B14F-4D97-AF65-F5344CB8AC3E}">
        <p14:creationId xmlns:p14="http://schemas.microsoft.com/office/powerpoint/2010/main" val="685056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0870A5-2E46-4FD4-B459-D4A6F6A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4F8B4-254C-44AF-93D6-53EE61C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A770D-27CA-437F-80E5-408A6A5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Telemetry persists separately from read-only replay and forecasting.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69862-4404-47D6-8D51-13BF84AF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78B4B-A391-4899-8729-DC82FA3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27DCE-8172-466D-BE9D-59AE222D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802F8-6BB6-4926-88F5-C4B96C29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1431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05BB6-BEC3-472B-857F-D98C50F5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14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D7520-CF3B-4182-8504-36ADCB8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6CB77-2BF8-4024-9725-F4EA8E5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Simulator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Authenticated meter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Read-only 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A1AAC-C046-4F3B-97C6-4269B4A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3336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719DB-059B-4DC3-B186-90487BDC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E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2A5EA-88C1-4667-92C2-05232573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E2B2"/>
                </a:solidFill>
                <a:latin typeface="Arial"/>
                <a:ea typeface="Arial"/>
                <a:cs typeface="Arial"/>
              </a:rPr>
              <a:t>VALIDATE +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50E6C-27A9-4F08-8795-D9F77161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Canonical checks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Duplicate / reset handling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SQLite telemetry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9487B-9690-4FD6-B5D0-C64A89A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286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E154A-F5EF-47AD-9A04-F2BF312E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80FE5-AF8A-434A-A0B7-A269488C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05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B9F2"/>
                </a:solidFill>
                <a:latin typeface="Arial"/>
                <a:ea typeface="Arial"/>
                <a:cs typeface="Arial"/>
              </a:rPr>
              <a:t>APPLICATION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B1907-905D-49F8-A070-F0DCE7A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Analytics + billing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Recommendations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Alerts + Socket.IO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359C2-9C10-465D-9281-5A6C9B3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2381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AF6AD-0C9F-4883-878F-414E300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EBD49-F0D4-4825-B6EB-28115BD1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050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USER 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EA3F4-1BAA-4935-9BAE-B90EA620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200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Monitoring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Insights + alerts</a:t>
            </a:r>
          </a:p>
          <a:p xmlns:a="http://schemas.openxmlformats.org/drawingml/2006/main">
            <a:pPr algn="l">
              <a:defRPr sz="1350" b="0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7FA"/>
                </a:solidFill>
                <a:latin typeface="Arial"/>
                <a:ea typeface="Arial"/>
                <a:cs typeface="Arial"/>
              </a:rPr>
              <a:t>Model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6148E-A169-45AB-B4B5-05F96408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575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16802-2D70-4601-811F-11FEE8FE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575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0B527-BB36-4D7E-8834-59E03FA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EE526-C02B-408A-8B5B-18FB6D71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519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2B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7FB63-019E-4637-9132-8B011039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05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SEPARATE ML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6C50B-CBFE-459D-8E88-6478A45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81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Trains isolated candidates; checks contracts; serves forecasts only when compatible.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12070-3001-4445-ADE8-4822FE1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57D74-00F3-40E9-9422-FD877ABA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57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The replay stream does not write into SQLite or hardware ingestion.</a:t>
            </a:r>
          </a:p>
        </p:txBody>
      </p:sp>
    </p:spTree>
    <p:extLst>
      <p:ext uri="{BB962C8B-B14F-4D97-AF65-F5344CB8AC3E}">
        <p14:creationId xmlns:p14="http://schemas.microsoft.com/office/powerpoint/2010/main" val="623047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10617-5887-458C-93BF-55B246D2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CF6FF-7570-41CE-80F1-D534C1A6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Insights grounded in recorded consumption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9205C-E754-412F-B739-1B85D7BF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Deterministic summaries use valid interval energy; synthetic data is labeled.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96264-3488-4CDF-A59A-D6405A01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C131E-DFBD-4894-BF49-D6F67E1F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E743E-04F4-465B-88AD-9DF7164C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2C851-3CBD-42A3-83B2-3DBD6D5E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ENERGY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A4D50-2DBF-40B3-8806-AADC90F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Appliance usage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DCD1-3C24-4DB3-80B1-FB9724E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82F6F-4559-41ED-89AF-750170B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Ranks appliances using observed interval kWh.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1C26B-1AFC-43EF-91BA-EC83C313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DBAB9-F513-4D74-A4C1-8ECFB28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Unusual-use comparisons require seven prior UTC days with adequate coverage.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F6B92-B74B-4E71-A668-74E3BF6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08070-A3C2-42F6-8F51-D6A9392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Savings scenarios show the arithmetic and user-selected assumptions.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35B23-6486-4CB5-BC02-B6DEDDAA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14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E2B2"/>
                </a:solidFill>
                <a:latin typeface="Arial"/>
                <a:ea typeface="Arial"/>
                <a:cs typeface="Arial"/>
              </a:rPr>
              <a:t>BILLS AND PRACTICAL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831F3-8005-42E3-8750-5459925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Useful without a forecast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C5629-2BE9-4F8A-9818-6FC77729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353E6-2A5B-4543-A393-3FCB614C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Configured tariff remains separate from the KSERC sourced estimate.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62C3C-0A6F-453A-AEBD-47E9DF1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CF704-0316-4CE5-A30F-6E901A3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Advice is tied to observed appliances and their usage patterns.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19683-0870-4E25-83C0-58DA5E0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A7514-69F2-4968-983D-CFCF0612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No time-of-use schedule is suggested unless rates justify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62E87-86BA-4A02-88F7-5CF7740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40895-BF96-4145-88C2-FD90D1EF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Short synthetic runs cannot establish a household baseline or prove long-term savings.</a:t>
            </a:r>
          </a:p>
        </p:txBody>
      </p:sp>
    </p:spTree>
    <p:extLst>
      <p:ext uri="{BB962C8B-B14F-4D97-AF65-F5344CB8AC3E}">
        <p14:creationId xmlns:p14="http://schemas.microsoft.com/office/powerpoint/2010/main" val="1229054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9C0A9-2488-4376-94A0-4161F69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03A7E-F68E-433C-9B2F-4FBEE967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Alerts across the app and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57D85-3878-43BE-95C4-B641E90D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The delivery path distinguishes demo events from real hardware alerts.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BC90B-DB3D-401D-825A-A141B94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E63AE-44B6-4176-A3CF-35FD504D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F594E-8586-46DA-B726-40323DD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B1654-BB4B-468E-A8CA-45C049E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EF1A9-54F1-4A13-8878-2A4D4CCB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B7286-4827-4381-B555-E472F28D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METER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89E21-19F6-4C77-AC11-A76CC59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Hardware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9DE7B-7156-4D19-8875-9FE3F718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9244B-5B61-417E-B48A-B676FE0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73444-5EF6-4627-99CF-DCD6A100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6FBB8-7FCC-45B1-BCF1-D6EC9B87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38255-A886-4015-80B1-C4F112C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Warning / 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34E1-E6D6-4D50-836A-2D714F1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908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0C15E-E344-49C2-8886-8B5F15E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8EB56-988A-4E19-8C04-B02AFC7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E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BCF7F-BCC6-4DF2-AD21-78929538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E2B2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E022E-FD94-46D0-A122-79059CB7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User opts 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A6957-4651-469A-B41C-8257272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D11D2-9EA7-4030-8665-E59C8D0E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081C2-6DEA-4FAF-90B7-9CBF4B0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6784B-368D-4799-B126-4AFDA4B6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7B9F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B9F2"/>
                </a:solidFill>
                <a:latin typeface="Arial"/>
                <a:ea typeface="Arial"/>
                <a:cs typeface="Arial"/>
              </a:rPr>
              <a:t>SMS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A83BD-8CE0-4262-B7D6-68670A9B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79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India DLT route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E68A1-E8E4-46FF-9817-4E395754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Replay and simulated alerts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466D6-C60E-4500-96E8-EF4006C7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Stay in the application; they are not sent to a phone.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22640-513E-4265-BFC2-57866E78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India setup required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ECD68-9510-4ABB-B3AF-CB9C996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624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Twilio credentials + registered sender, entity ID, and approved DLT template.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218A30-281E-4BF4-A9E6-38643F5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AB2B4F-58A8-49E6-BF17-48BDB32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Phone delivery is opt-in and remains unavailable until provider credentials and DLT approvals are configured.</a:t>
            </a:r>
          </a:p>
        </p:txBody>
      </p:sp>
    </p:spTree>
    <p:extLst>
      <p:ext uri="{BB962C8B-B14F-4D97-AF65-F5344CB8AC3E}">
        <p14:creationId xmlns:p14="http://schemas.microsoft.com/office/powerpoint/2010/main" val="192368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40439-2E86-4F64-B149-2FB559F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46F08-B0B3-4499-A70B-66E152D1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Forecast candidate vs persistence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C936D-E6CA-47D2-A665-94639B9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Same held-out simulated samples · 5-second cadence · 1,036 forecasts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2D488-FD5E-4152-993E-8DD83117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1FF57-CD79-4BAC-AC5E-657795C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61E60-BC41-42A9-9709-2468312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28369-8C87-4C39-A147-88740B19EB51}"/>
              </a:ext>
            </a:extLst>
          </p:cNvPr>
          <p:cNvGraphicFramePr/>
          <p:nvPr/>
        </p:nvGraphicFramePr>
        <p:xfrm>
          <a:off xmlns:a="http://schemas.openxmlformats.org/drawingml/2006/main" x="781050" y="1857375"/>
          <a:ext xmlns:a="http://schemas.openxmlformats.org/drawingml/2006/main" cx="6572250" cy="3190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2190750"/>
                <a:gridCol w="2190750"/>
              </a:tblGrid>
              <a:tr h="638175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36D4D0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54354"/>
                      </a:solidFill>
                      <a:prstDash val="solid"/>
                    </a:lnL>
                    <a:lnR w="9525">
                      <a:solidFill>
                        <a:srgbClr val="254354"/>
                      </a:solidFill>
                      <a:prstDash val="solid"/>
                    </a:lnR>
                    <a:lnT w="9525">
                      <a:solidFill>
                        <a:srgbClr val="254354"/>
                      </a:solidFill>
                      <a:prstDash val="solid"/>
                    </a:lnT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15344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36D4D0"/>
                          </a:solidFill>
                          <a:latin typeface="Arial"/>
                          <a:ea typeface="Arial"/>
                          <a:cs typeface="Arial"/>
                        </a:rPr>
                        <a:t>LSTM candidate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T w="9525">
                      <a:solidFill>
                        <a:srgbClr val="254354"/>
                      </a:solidFill>
                      <a:prstDash val="solid"/>
                    </a:lnT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15344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36D4D0"/>
                          </a:solidFill>
                          <a:latin typeface="Arial"/>
                          <a:ea typeface="Arial"/>
                          <a:cs typeface="Arial"/>
                        </a:rPr>
                        <a:t>Persistence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T w="9525">
                      <a:solidFill>
                        <a:srgbClr val="254354"/>
                      </a:solidFill>
                      <a:prstDash val="solid"/>
                    </a:lnT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15344A"/>
                    </a:solidFill>
                  </a:tcPr>
                </a:tc>
              </a:tr>
              <a:tr h="638175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MAE (kWh)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54354"/>
                      </a:solidFill>
                      <a:prstDash val="solid"/>
                    </a:lnL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0.00010063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0.00008930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</a:tr>
              <a:tr h="638175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RMSE (kWh)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54354"/>
                      </a:solidFill>
                      <a:prstDash val="solid"/>
                    </a:lnL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0.00030000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0.00031814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</a:tr>
              <a:tr h="638175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WAPE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54354"/>
                      </a:solidFill>
                      <a:prstDash val="solid"/>
                    </a:lnL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71.18%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63.17%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</a:tr>
              <a:tr h="638175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54354"/>
                      </a:solidFill>
                      <a:prstDash val="solid"/>
                    </a:lnL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0.4597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2F7FA"/>
                          </a:solidFill>
                          <a:latin typeface="Arial"/>
                          <a:ea typeface="Arial"/>
                          <a:cs typeface="Arial"/>
                        </a:rPr>
                        <a:t>0.3924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54354"/>
                      </a:solidFill>
                      <a:prstDash val="solid"/>
                    </a:lnR>
                    <a:lnB w="9525">
                      <a:solidFill>
                        <a:srgbClr val="254354"/>
                      </a:solidFill>
                      <a:prstDash val="solid"/>
                    </a:lnB>
                    <a:solidFill>
                      <a:srgbClr val="0D20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728CB-017A-4201-BA47-1A19F9DD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145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BBC8"/>
                </a:solidFill>
                <a:latin typeface="Arial"/>
                <a:ea typeface="Arial"/>
                <a:cs typeface="Arial"/>
              </a:rPr>
              <a:t>MAE change vs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6A9FE-FE5B-4F2E-B09F-F5208B05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−12.69%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BFF70-719E-4DB7-996F-2ED4EBF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4322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Higher MAE means the candidate made larger average errors.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3DC3C-6ABE-4B44-BE70-CF269A2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861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92403-861D-4301-ACBF-44EE5266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528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3696C-3EF8-4C64-BFBA-585C3314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76725"/>
            <a:ext cx="3190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Keep the LSTM inactive. Persistence is the stronger MAE and WAPE reference on this split.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0BE2A-1A7F-4801-A66C-4D4A43B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999"/>
                </a:solidFill>
                <a:latin typeface="Arial"/>
                <a:ea typeface="Arial"/>
                <a:cs typeface="Arial"/>
              </a:rPr>
              <a:t>R² is not a forecast-accuracy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41635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03F3B1-F4B8-4CEF-977F-6ED8B3E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837C9-9725-492B-B1F1-EAEFEF48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Model lifecycle and inference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CA1CB-CFF5-40D7-B926-414B706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A valid package is not sufficient evidence that a forecast is useful.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AA810-9B24-4256-B994-086884A3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7B775-29AA-45E4-90B2-13150C0B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99927-571A-4F37-A7B1-388EEDA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4E7BD-70C9-4830-A66B-422279A6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69FD1-3CEB-43C1-962E-DAB8632D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8F2B8-5346-4603-8C0E-37DB19BE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928D3-AE30-42AD-B4CA-444ED863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Chronological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CD3AE-F714-4F94-B750-6E8D9D0C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60935-2A63-47C3-A199-ED6AB96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40FD5-95E0-45C9-8E45-87604E39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CD343-F44B-4AF6-823F-646311D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Compare persistence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DA40C-482E-41D5-A3BA-8B8B1048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323FF-3697-46A2-A1F5-3E1E991D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872EE-26E8-4760-A1F8-699EEF6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88C38-F42F-48E5-A2FA-59FEAC47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Contract + inference probe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CE928-7DDB-47D9-9C3E-6F3B0F03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03509-95F4-4E37-8DF0-C8F58482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64C8C-2A37-4867-B407-B71459C2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AFAF8-62F1-4E85-9948-306FB50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Review candidate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EE424-C45B-47A3-BA18-85A05A8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6254D-8B52-4CC8-9F82-3AEAB934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384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66EAE-6616-495E-A595-50CB9D1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D83F2-EC13-4621-A3AC-577D7A6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Separate action +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26609-D5FC-43F5-8621-6063FA76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7A292-277A-4B5B-919A-5BC78DE2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CURRENT APP MODEL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09843-1936-48BB-BDBA-BAEA915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60 × 19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5FC76-0C71-47AA-801D-FECAF5C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60 readings · 19 ordered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E291A-16D7-465C-B25C-A955E9F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5 s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E8982-2D74-4A74-9DE4-A2851C1F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958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Predicts next interval energy (kWh)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108DE-3B99-428F-B439-92A6CD5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Inference stays 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22390-6DF9-4A2E-8332-AC12639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when compatibility checks fail</a:t>
            </a:r>
          </a:p>
        </p:txBody>
      </p:sp>
    </p:spTree>
    <p:extLst>
      <p:ext uri="{BB962C8B-B14F-4D97-AF65-F5344CB8AC3E}">
        <p14:creationId xmlns:p14="http://schemas.microsoft.com/office/powerpoint/2010/main" val="461518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093D0-88C4-40D3-A98C-589C4D1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C7C5-8E61-4009-9106-A8A8D54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Current scope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4869A-646E-49B7-8DAC-A869F47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The project is a working simulation-first foundation, not a hardware-validated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4A3A0-670D-4C11-B0EE-E8BC5594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543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88C3C-1B87-4877-B485-4E095068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F899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999"/>
                </a:solidFill>
                <a:latin typeface="Arial"/>
                <a:ea typeface="Arial"/>
                <a:cs typeface="Arial"/>
              </a:rPr>
              <a:t>SMART ENERGY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57D58-AC9D-41BC-906D-A7CBD7C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BF323-9D7E-406F-AC09-CA02808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AE2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E2B2"/>
                </a:solidFill>
                <a:latin typeface="Arial"/>
                <a:ea typeface="Arial"/>
                <a:cs typeface="Arial"/>
              </a:rPr>
              <a:t>WORKING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5A697-B78E-4A80-AAF7-F30B749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FF56E-E02D-4399-9738-42E2B5AC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Dashboard, monitoring, appliances, analytics, alerts, replay, and model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D4A9D-47F6-4068-B65D-46E33B48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5E5EE-8085-474D-B1B8-A0E98881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Deterministic recommendations and sourced tariff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726A1-373D-4114-824E-36573ABD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8614B-57E2-490D-A6C8-A8D9840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Candidate training, compatibility checks, and activation safeguards.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4FB54-A6B0-48DF-8F3A-628F543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5C9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C969"/>
                </a:solidFill>
                <a:latin typeface="Arial"/>
                <a:ea typeface="Arial"/>
                <a:cs typeface="Arial"/>
              </a:rPr>
              <a:t>TO VALIDATE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6DF10-1CDC-48F5-812F-E61305AE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F4F16-BB97-456D-AB9A-2AB5C2FA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Connect ESP32/PZEM hardware and verify mapping, timestamps, resets, and meter accuracy.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4705D-079C-4C22-909B-F530F67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0FE88-3999-4E7F-82F5-51B9096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33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Collect longer, representative household data and repeat chronological evaluation.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43C30-D80E-4878-9B80-7E020BD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F1844-AAD1-4E64-87CA-235BBC9B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338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8BB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BC8"/>
                </a:solidFill>
                <a:latin typeface="Arial"/>
                <a:ea typeface="Arial"/>
                <a:cs typeface="Arial"/>
              </a:rPr>
              <a:t>Complete India DLT registration and test delivery with explicit user consent.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5083E-E13F-4C5E-804F-1092770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2543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64851-E4E0-4AC4-80F5-9703846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6D4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4D0"/>
                </a:solidFill>
                <a:latin typeface="Arial"/>
                <a:ea typeface="Arial"/>
                <a:cs typeface="Arial"/>
              </a:rPr>
              <a:t>Demo 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D71F5-9250-4462-9559-54281A1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81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F7FA"/>
                </a:solidFill>
                <a:latin typeface="Arial"/>
                <a:ea typeface="Arial"/>
                <a:cs typeface="Arial"/>
              </a:rPr>
              <a:t>Monitoring → Analytics / AI Insights → Alerts → Predictions →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912651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2026-10-22T11:03:59.6770000Z</dcterms:created>
  <dcterms:modified xsi:type="dcterms:W3CDTF">2026-10-22T11:03:59.6770000Z</dcterms:modified>
</coreProperties>
</file>